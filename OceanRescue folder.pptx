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731520"/>
            <a:ext cx="2468880" cy="2468880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5F9FC"/>
                </a:solidFill>
                <a:latin typeface="Segoe UI Symbol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966960" y="2468880"/>
            <a:ext cx="1371600" cy="1371600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5F9FC"/>
                </a:solidFill>
                <a:latin typeface="Segoe UI Symbol"/>
              </a:defRPr>
            </a:pPr>
          </a:p>
        </p:txBody>
      </p:sp>
      <p:sp>
        <p:nvSpPr>
          <p:cNvPr id="4" name="Oval 3"/>
          <p:cNvSpPr/>
          <p:nvPr/>
        </p:nvSpPr>
        <p:spPr>
          <a:xfrm>
            <a:off x="7589520" y="3474720"/>
            <a:ext cx="914400" cy="914400"/>
          </a:xfrm>
          <a:prstGeom prst="ellipse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" b="1">
                <a:solidFill>
                  <a:srgbClr val="F5F9FC"/>
                </a:solidFill>
                <a:latin typeface="Segoe UI Symbol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100" b="1">
                <a:solidFill>
                  <a:srgbClr val="F5F9FC"/>
                </a:solidFill>
                <a:latin typeface="Aptos"/>
              </a:defRPr>
            </a:pPr>
            <a:r>
              <a:t>Ethical Product Development in</a:t>
            </a:r>
            <a:br/>
            <a:r>
              <a:t>Intelligent Ocean Rescue Coordination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063240"/>
            <a:ext cx="6035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DEEEF4"/>
                </a:solidFill>
                <a:latin typeface="Aptos"/>
              </a:defRPr>
            </a:pPr>
            <a:r>
              <a:t>Capstone Project • AI &amp; Data Science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8620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5F9FC"/>
                </a:solidFill>
                <a:latin typeface="Aptos"/>
              </a:defRPr>
            </a:pPr>
            <a:r>
              <a:t>Presented by:</a:t>
            </a:r>
            <a:br/>
            <a:r>
              <a:t>Your Name • Team Members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749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EF4"/>
                </a:solidFill>
                <a:latin typeface="Aptos"/>
              </a:defRPr>
            </a:pPr>
            <a:r>
              <a:t>Saveetha Engineering College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52360" y="5257800"/>
            <a:ext cx="374903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F9FC"/>
                </a:solidFill>
                <a:latin typeface="Aptos"/>
              </a:defRPr>
            </a:pPr>
            <a:r>
              <a:t>SAFETY  •  FAIRNESS  •  PRIVACY</a:t>
            </a:r>
            <a:br/>
            <a:r>
              <a:t>HUMAN-CENTERED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1.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Why intelligent rescue systems need ethical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6675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Ocean emergencies require rapid, coordinated decisions.</a:t>
            </a:r>
          </a:p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Real-time data and AI can improve situational awareness.</a:t>
            </a:r>
          </a:p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Safety-critical systems can affect human lives, so errors have serious consequences.</a:t>
            </a:r>
          </a:p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Ethical design protects safety, privacy, fairness, transparency and accountability.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0" y="1554480"/>
            <a:ext cx="1143000" cy="1143000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5F9FC"/>
                </a:solidFill>
                <a:latin typeface="Segoe UI Symbol"/>
              </a:defRPr>
            </a:pPr>
            <a:r>
              <a:t>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7889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71C34"/>
                </a:solidFill>
                <a:latin typeface="Aptos"/>
              </a:defRPr>
            </a:pPr>
            <a:r>
              <a:t>Intelligent</a:t>
            </a:r>
          </a:p>
        </p:txBody>
      </p:sp>
      <p:sp>
        <p:nvSpPr>
          <p:cNvPr id="12" name="Oval 11"/>
          <p:cNvSpPr/>
          <p:nvPr/>
        </p:nvSpPr>
        <p:spPr>
          <a:xfrm>
            <a:off x="9692640" y="2743200"/>
            <a:ext cx="1143000" cy="1143000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5F9FC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20" y="3977639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71C34"/>
                </a:solidFill>
                <a:latin typeface="Aptos"/>
              </a:defRPr>
            </a:pPr>
            <a:r>
              <a:t>Ethical</a:t>
            </a:r>
          </a:p>
        </p:txBody>
      </p:sp>
      <p:sp>
        <p:nvSpPr>
          <p:cNvPr id="14" name="Oval 13"/>
          <p:cNvSpPr/>
          <p:nvPr/>
        </p:nvSpPr>
        <p:spPr>
          <a:xfrm>
            <a:off x="8138160" y="4160520"/>
            <a:ext cx="1143000" cy="1143000"/>
          </a:xfrm>
          <a:prstGeom prst="ellipse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300" b="1">
                <a:solidFill>
                  <a:srgbClr val="F5F9FC"/>
                </a:solidFill>
                <a:latin typeface="Segoe UI Symbol"/>
              </a:defRPr>
            </a:pPr>
            <a:r>
              <a:t>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5394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71C34"/>
                </a:solidFill>
                <a:latin typeface="Aptos"/>
              </a:defRPr>
            </a:pPr>
            <a:r>
              <a:t>Rescue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2.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Key operational and ethical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17320"/>
            <a:ext cx="507492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17320"/>
            <a:ext cx="73152" cy="178308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581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Delayed response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84248"/>
            <a:ext cx="47548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Slow detection or communication can delay rescue action.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2286000"/>
            <a:ext cx="566928" cy="566928"/>
          </a:xfrm>
          <a:prstGeom prst="ellipse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417320"/>
            <a:ext cx="507492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73152" cy="178308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15819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Coordination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1984248"/>
            <a:ext cx="47548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Multiple teams and resources must work together.</a:t>
            </a:r>
          </a:p>
        </p:txBody>
      </p:sp>
      <p:sp>
        <p:nvSpPr>
          <p:cNvPr id="18" name="Oval 17"/>
          <p:cNvSpPr/>
          <p:nvPr/>
        </p:nvSpPr>
        <p:spPr>
          <a:xfrm>
            <a:off x="6446520" y="2286000"/>
            <a:ext cx="566928" cy="566928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◎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566160"/>
            <a:ext cx="507492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3566160"/>
            <a:ext cx="73152" cy="1783080"/>
          </a:xfrm>
          <a:prstGeom prst="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3730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Data uncertainty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4133088"/>
            <a:ext cx="47548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Weather, GPS and sensor data may be incomplete or inaccurate.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4434840"/>
            <a:ext cx="566928" cy="566928"/>
          </a:xfrm>
          <a:prstGeom prst="ellipse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⚠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566160"/>
            <a:ext cx="507492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73152" cy="178308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373075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4133088"/>
            <a:ext cx="47548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Victim location and identity data must be protected.</a:t>
            </a:r>
          </a:p>
        </p:txBody>
      </p:sp>
      <p:sp>
        <p:nvSpPr>
          <p:cNvPr id="28" name="Oval 27"/>
          <p:cNvSpPr/>
          <p:nvPr/>
        </p:nvSpPr>
        <p:spPr>
          <a:xfrm>
            <a:off x="6446520" y="4434840"/>
            <a:ext cx="566928" cy="566928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3.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Intelligent Ocean Rescue Coordination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011680"/>
            <a:ext cx="1965960" cy="1920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011680"/>
            <a:ext cx="73152" cy="192024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21762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78608"/>
            <a:ext cx="16459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GPS • sensors</a:t>
            </a:r>
            <a:br/>
            <a:r>
              <a:t>weather • SOS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377440" y="2971800"/>
            <a:ext cx="365760" cy="0"/>
          </a:xfrm>
          <a:prstGeom prst="line">
            <a:avLst/>
          </a:prstGeom>
          <a:ln w="2540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743200" y="2011680"/>
            <a:ext cx="1965960" cy="1920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0" y="2011680"/>
            <a:ext cx="73152" cy="192024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44368" y="21762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44368" y="2578608"/>
            <a:ext cx="16459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detect • assess</a:t>
            </a:r>
            <a:br/>
            <a:r>
              <a:t>predict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709160" y="2971800"/>
            <a:ext cx="365760" cy="0"/>
          </a:xfrm>
          <a:prstGeom prst="line">
            <a:avLst/>
          </a:prstGeom>
          <a:ln w="2540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74920" y="2011680"/>
            <a:ext cx="1965960" cy="1920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74920" y="2011680"/>
            <a:ext cx="73152" cy="192024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76088" y="21762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578608"/>
            <a:ext cx="16459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prioritize</a:t>
            </a:r>
            <a:br/>
            <a:r>
              <a:t>recommend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040879" y="2971800"/>
            <a:ext cx="365761" cy="0"/>
          </a:xfrm>
          <a:prstGeom prst="line">
            <a:avLst/>
          </a:prstGeom>
          <a:ln w="2540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06640" y="2011680"/>
            <a:ext cx="1965960" cy="1920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2011680"/>
            <a:ext cx="73152" cy="1920240"/>
          </a:xfrm>
          <a:prstGeom prst="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07808" y="21762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COORDINATE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8" y="2578608"/>
            <a:ext cx="16459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teams • vessels</a:t>
            </a:r>
            <a:br/>
            <a:r>
              <a:t>drones • resources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72600" y="2971800"/>
            <a:ext cx="365760" cy="0"/>
          </a:xfrm>
          <a:prstGeom prst="line">
            <a:avLst/>
          </a:prstGeom>
          <a:ln w="2540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38360" y="2011680"/>
            <a:ext cx="1965960" cy="1920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38360" y="2011680"/>
            <a:ext cx="73152" cy="192024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39528" y="2176272"/>
            <a:ext cx="1645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RESCUE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2578608"/>
            <a:ext cx="1645919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human-led</a:t>
            </a:r>
            <a:br/>
            <a:r>
              <a:t>action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09160"/>
            <a:ext cx="10241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71C34"/>
                </a:solidFill>
                <a:latin typeface="Aptos"/>
              </a:defRPr>
            </a:pPr>
            <a:r>
              <a:t>Core principle: AI provides decision support; trained humans remain responsible for critical rescue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4.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From real-world signals to coordinated rescue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1234440"/>
            <a:ext cx="530352" cy="530352"/>
          </a:xfrm>
          <a:prstGeom prst="ellipse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08760" y="1188720"/>
            <a:ext cx="9601200" cy="777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1188720"/>
            <a:ext cx="73152" cy="77724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09928" y="1353312"/>
            <a:ext cx="9281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Data 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1755648"/>
            <a:ext cx="9281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GPS • SOS • sensors • weather/ocean 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42415" y="1764792"/>
            <a:ext cx="0" cy="384048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777240" y="2194560"/>
            <a:ext cx="530352" cy="530352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08760" y="2148840"/>
            <a:ext cx="9601200" cy="777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08760" y="2148840"/>
            <a:ext cx="73152" cy="77724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09928" y="2313432"/>
            <a:ext cx="9281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09928" y="2715768"/>
            <a:ext cx="9281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cleaning • validation • fusion • storage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42415" y="2724912"/>
            <a:ext cx="0" cy="384048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77240" y="3154680"/>
            <a:ext cx="530352" cy="530352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3108960"/>
            <a:ext cx="9601200" cy="777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508760" y="3108960"/>
            <a:ext cx="73152" cy="77724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09928" y="3273552"/>
            <a:ext cx="9281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AI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09928" y="3675888"/>
            <a:ext cx="9281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anomaly detection • risk assessment • prediction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042415" y="3685032"/>
            <a:ext cx="0" cy="384048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777240" y="4114800"/>
            <a:ext cx="530352" cy="530352"/>
          </a:xfrm>
          <a:prstGeom prst="ellipse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08760" y="4069080"/>
            <a:ext cx="9601200" cy="777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508760" y="4069080"/>
            <a:ext cx="73152" cy="777240"/>
          </a:xfrm>
          <a:prstGeom prst="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709928" y="4233672"/>
            <a:ext cx="9281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Decision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09928" y="4636008"/>
            <a:ext cx="9281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priority • resource allocation • route recommendations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1042415" y="4645152"/>
            <a:ext cx="0" cy="384048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777240" y="5074920"/>
            <a:ext cx="530352" cy="530352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508760" y="5029200"/>
            <a:ext cx="9601200" cy="77724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08760" y="5029200"/>
            <a:ext cx="73152" cy="77724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09928" y="5193792"/>
            <a:ext cx="9281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Rescue Operations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09928" y="5596128"/>
            <a:ext cx="9281160" cy="11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human approval • communication • response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5. Role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AI as a decision-support layer, not a replacement for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333756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73152" cy="178308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938528"/>
            <a:ext cx="30175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Identify unusual signals or possible emergencies.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59" y="1371600"/>
            <a:ext cx="333756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59" y="1371600"/>
            <a:ext cx="73152" cy="178308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7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7" y="1938528"/>
            <a:ext cx="30175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Estimate risk using multiple data sources.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71600"/>
            <a:ext cx="333756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73152" cy="178308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53619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Prioritize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1938528"/>
            <a:ext cx="30175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Help rank rescue needs using transparent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611880"/>
            <a:ext cx="333756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3611880"/>
            <a:ext cx="73152" cy="1783080"/>
          </a:xfrm>
          <a:prstGeom prst="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3776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Plan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178808"/>
            <a:ext cx="30175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Suggest routes and resource assignments.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59" y="3611880"/>
            <a:ext cx="333756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59" y="3611880"/>
            <a:ext cx="73152" cy="178308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7" y="377647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7" y="4178808"/>
            <a:ext cx="301752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Forecast changing conditions and potential risks.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71500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71C34"/>
                </a:solidFill>
                <a:latin typeface="Aptos"/>
              </a:defRPr>
            </a:pPr>
            <a:r>
              <a:t>Human-in-the-loop: critical recommendations should be reviewed by qualified rescue personnel.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6. Ethical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Principles for trustworthy rescue technology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325880"/>
            <a:ext cx="342900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325880"/>
            <a:ext cx="73152" cy="178308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92807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Protect identity and location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325880"/>
            <a:ext cx="342900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325880"/>
            <a:ext cx="73152" cy="1783080"/>
          </a:xfrm>
          <a:prstGeom prst="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892807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Fail safely when data or models are uncertain.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325880"/>
            <a:ext cx="342900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325880"/>
            <a:ext cx="73152" cy="178308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49047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Fairness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892807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Apply consistent, non-discriminatory criteria.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566160"/>
            <a:ext cx="342900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566160"/>
            <a:ext cx="73152" cy="178308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730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Transparency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133088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Make important decisions understandable.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566160"/>
            <a:ext cx="342900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566160"/>
            <a:ext cx="73152" cy="178308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730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Accountability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133088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Keep clear responsibility and audit trails.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566160"/>
            <a:ext cx="3429000" cy="17830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3566160"/>
            <a:ext cx="73152" cy="178308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73075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Human Oversight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4133088"/>
            <a:ext cx="310896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Humans control high-impact actions.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7. Rights-Based Ethics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Respecting people is a core design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1554480"/>
            <a:ext cx="1005840" cy="1005840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9FC"/>
                </a:solidFill>
                <a:latin typeface="Segoe UI Symbol"/>
              </a:defRPr>
            </a:pPr>
            <a:r>
              <a:t>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C34"/>
                </a:solidFill>
                <a:latin typeface="Aptos"/>
              </a:defRPr>
            </a:pPr>
            <a:r>
              <a:t>Right to life &amp; safety</a:t>
            </a:r>
          </a:p>
        </p:txBody>
      </p:sp>
      <p:sp>
        <p:nvSpPr>
          <p:cNvPr id="11" name="Oval 10"/>
          <p:cNvSpPr/>
          <p:nvPr/>
        </p:nvSpPr>
        <p:spPr>
          <a:xfrm>
            <a:off x="3611879" y="1554480"/>
            <a:ext cx="1005840" cy="1005840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9FC"/>
                </a:solidFill>
                <a:latin typeface="Segoe UI Symbol"/>
              </a:defRPr>
            </a:pPr>
            <a:r>
              <a:t>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C34"/>
                </a:solidFill>
                <a:latin typeface="Aptos"/>
              </a:defRPr>
            </a:pPr>
            <a:r>
              <a:t>Right to privacy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554480"/>
            <a:ext cx="1005840" cy="1005840"/>
          </a:xfrm>
          <a:prstGeom prst="ellipse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9FC"/>
                </a:solidFill>
                <a:latin typeface="Segoe UI Symbol"/>
              </a:defRPr>
            </a:pPr>
            <a:r>
              <a:t>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C34"/>
                </a:solidFill>
                <a:latin typeface="Aptos"/>
              </a:defRPr>
            </a:pPr>
            <a:r>
              <a:t>Right to fair treatment</a:t>
            </a:r>
          </a:p>
        </p:txBody>
      </p:sp>
      <p:sp>
        <p:nvSpPr>
          <p:cNvPr id="15" name="Oval 14"/>
          <p:cNvSpPr/>
          <p:nvPr/>
        </p:nvSpPr>
        <p:spPr>
          <a:xfrm>
            <a:off x="9189719" y="1554480"/>
            <a:ext cx="1005840" cy="1005840"/>
          </a:xfrm>
          <a:prstGeom prst="ellipse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5F9FC"/>
                </a:solidFill>
                <a:latin typeface="Segoe UI Symbol"/>
              </a:defRPr>
            </a:pPr>
            <a:r>
              <a:t>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2743200"/>
            <a:ext cx="1463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71C34"/>
                </a:solidFill>
                <a:latin typeface="Aptos"/>
              </a:defRPr>
            </a:pPr>
            <a:r>
              <a:t>Right to clear communication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977639"/>
            <a:ext cx="9875520" cy="132588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977639"/>
            <a:ext cx="73152" cy="132588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44168" y="4142231"/>
            <a:ext cx="9555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Example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4544568"/>
            <a:ext cx="955548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Location information should be collected only when necessary for rescue, secured from unauthorized access, and handled according to clear rules.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8. Ethical Product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Build ethics into every stage of the product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965960"/>
            <a:ext cx="777240" cy="777240"/>
          </a:xfrm>
          <a:prstGeom prst="ellipse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9FC"/>
                </a:solidFill>
                <a:latin typeface="Segoe UI Symbo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71C34"/>
                </a:solidFill>
                <a:latin typeface="Aptos"/>
              </a:defRPr>
            </a:pPr>
            <a:r>
              <a:t>Identify risks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280160" y="2359152"/>
            <a:ext cx="1143000" cy="0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2423160" y="1965960"/>
            <a:ext cx="777240" cy="777240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9FC"/>
                </a:solidFill>
                <a:latin typeface="Segoe UI Symbo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71C34"/>
                </a:solidFill>
                <a:latin typeface="Aptos"/>
              </a:defRPr>
            </a:pPr>
            <a:r>
              <a:t>Design safeguards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00400" y="2359152"/>
            <a:ext cx="1143000" cy="0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4343400" y="1965960"/>
            <a:ext cx="777240" cy="777240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9FC"/>
                </a:solidFill>
                <a:latin typeface="Segoe UI Symbo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71C34"/>
                </a:solidFill>
                <a:latin typeface="Aptos"/>
              </a:defRPr>
            </a:pPr>
            <a:r>
              <a:t>Test reliability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120640" y="2359152"/>
            <a:ext cx="1143000" cy="0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6263640" y="1965960"/>
            <a:ext cx="777240" cy="777240"/>
          </a:xfrm>
          <a:prstGeom prst="ellipse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9FC"/>
                </a:solidFill>
                <a:latin typeface="Segoe UI Symbo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71C34"/>
                </a:solidFill>
                <a:latin typeface="Aptos"/>
              </a:defRPr>
            </a:pPr>
            <a:r>
              <a:t>Evaluate fairness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80" y="2359152"/>
            <a:ext cx="1143000" cy="0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183880" y="1965960"/>
            <a:ext cx="777240" cy="777240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9FC"/>
                </a:solidFill>
                <a:latin typeface="Segoe UI Symbo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71C34"/>
                </a:solidFill>
                <a:latin typeface="Aptos"/>
              </a:defRPr>
            </a:pPr>
            <a:r>
              <a:t>Deploy with oversight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961120" y="2359152"/>
            <a:ext cx="1143000" cy="0"/>
          </a:xfrm>
          <a:prstGeom prst="line">
            <a:avLst/>
          </a:prstGeom>
          <a:ln w="19050">
            <a:solidFill>
              <a:srgbClr val="5B6E7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10104120" y="1965960"/>
            <a:ext cx="777240" cy="777240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9FC"/>
                </a:solidFill>
                <a:latin typeface="Segoe UI Symbol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2926080"/>
            <a:ext cx="1417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71C34"/>
                </a:solidFill>
                <a:latin typeface="Aptos"/>
              </a:defRPr>
            </a:pPr>
            <a:r>
              <a:t>Monitor &amp; improve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10241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71C34"/>
                </a:solidFill>
                <a:latin typeface="Aptos"/>
              </a:defRPr>
            </a:pPr>
            <a:r>
              <a:t>Ethics is not a final checklist—it is a continuous engineering requirement.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9. Safety &amp; Privacy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Protect people and information by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325880"/>
            <a:ext cx="5074920" cy="411480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1325880"/>
            <a:ext cx="73152" cy="4114800"/>
          </a:xfrm>
          <a:prstGeom prst="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490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1892807"/>
            <a:ext cx="475488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• Human verification for critical actions</a:t>
            </a:r>
            <a:br/>
            <a:r>
              <a:t>• Fail-safe behaviour under uncertainty</a:t>
            </a:r>
            <a:br/>
            <a:r>
              <a:t>• Reliable communication paths</a:t>
            </a:r>
            <a:br/>
            <a:r>
              <a:t>• Regular testing and incident review</a:t>
            </a:r>
            <a:br/>
            <a:r>
              <a:t>• Clear escalation procedures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25880"/>
            <a:ext cx="5074920" cy="411480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25880"/>
            <a:ext cx="73152" cy="411480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149047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PRIVACY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8" y="1892807"/>
            <a:ext cx="475488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• Collect only necessary information</a:t>
            </a:r>
            <a:br/>
            <a:r>
              <a:t>• Encrypt sensitive data</a:t>
            </a:r>
            <a:br/>
            <a:r>
              <a:t>• Role-based access control</a:t>
            </a:r>
            <a:br/>
            <a:r>
              <a:t>• Keep audit logs</a:t>
            </a:r>
            <a:br/>
            <a:r>
              <a:t>• Define retention and deletion rules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10.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Expected value of the proposed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280160"/>
            <a:ext cx="530352" cy="530352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9FC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26187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Faster emergency response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0" y="1280160"/>
            <a:ext cx="530352" cy="530352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9FC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26187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Better team coordination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788920"/>
            <a:ext cx="530352" cy="530352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9FC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77063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Improved situational awareness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788920"/>
            <a:ext cx="530352" cy="530352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9FC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77063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More informed decisions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297679"/>
            <a:ext cx="530352" cy="530352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9FC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2793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Efficient resource utilization</a:t>
            </a:r>
          </a:p>
        </p:txBody>
      </p:sp>
      <p:sp>
        <p:nvSpPr>
          <p:cNvPr id="19" name="Oval 18"/>
          <p:cNvSpPr/>
          <p:nvPr/>
        </p:nvSpPr>
        <p:spPr>
          <a:xfrm>
            <a:off x="6217920" y="4297679"/>
            <a:ext cx="530352" cy="530352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5F9FC"/>
                </a:solidFill>
                <a:latin typeface="Segoe UI Symbol"/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279392"/>
            <a:ext cx="4480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Greater transparency &amp; accountability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11. Challenges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Limitations that must be planned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280160"/>
            <a:ext cx="3429000" cy="173736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80160"/>
            <a:ext cx="73152" cy="1737360"/>
          </a:xfrm>
          <a:prstGeom prst="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4447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847088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Incomplete, noisy or delayed inputs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280160"/>
            <a:ext cx="3429000" cy="173736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280160"/>
            <a:ext cx="73152" cy="173736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14447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Connectivity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1847088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Communication failures in remote areas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280160"/>
            <a:ext cx="3429000" cy="173736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75320" y="1280160"/>
            <a:ext cx="73152" cy="173736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76488" y="14447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AI Error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1847088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Models can produce incorrect predictions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3474720"/>
            <a:ext cx="3429000" cy="173736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3474720"/>
            <a:ext cx="73152" cy="1737360"/>
          </a:xfrm>
          <a:prstGeom prst="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3639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Cybersecurity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041648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Systems may be targeted or misused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3474720"/>
            <a:ext cx="3429000" cy="173736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3474720"/>
            <a:ext cx="73152" cy="1737360"/>
          </a:xfrm>
          <a:prstGeom prst="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81728" y="3639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Human Factors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1728" y="4041648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Stress and workload affect decisions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75320" y="3474720"/>
            <a:ext cx="3429000" cy="1737360"/>
          </a:xfrm>
          <a:prstGeom prst="roundRect">
            <a:avLst/>
          </a:prstGeom>
          <a:solidFill>
            <a:srgbClr val="F8FCFE"/>
          </a:solidFill>
          <a:ln>
            <a:solidFill>
              <a:srgbClr val="CD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275320" y="3474720"/>
            <a:ext cx="73152" cy="1737360"/>
          </a:xfrm>
          <a:prstGeom prst="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76488" y="3639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71C34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76488" y="4041648"/>
            <a:ext cx="310896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0">
                <a:solidFill>
                  <a:srgbClr val="5B6E7C"/>
                </a:solidFill>
                <a:latin typeface="Aptos"/>
              </a:defRPr>
            </a:pPr>
            <a:r>
              <a:t>Clear policies and responsibility are required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12. Future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Potential extensions for a mature rescue ecosystem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69494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142636"/>
                </a:solidFill>
                <a:latin typeface="Aptos"/>
              </a:defRPr>
            </a:pPr>
            <a:r>
              <a:t>• Drone-assisted search and situational awareness</a:t>
            </a:r>
          </a:p>
          <a:p>
            <a:pPr>
              <a:spcAft>
                <a:spcPts val="1200"/>
              </a:spcAft>
              <a:defRPr sz="1700">
                <a:solidFill>
                  <a:srgbClr val="142636"/>
                </a:solidFill>
                <a:latin typeface="Aptos"/>
              </a:defRPr>
            </a:pPr>
            <a:r>
              <a:t>• Satellite and advanced ocean-sensor integration</a:t>
            </a:r>
          </a:p>
          <a:p>
            <a:pPr>
              <a:spcAft>
                <a:spcPts val="1200"/>
              </a:spcAft>
              <a:defRPr sz="1700">
                <a:solidFill>
                  <a:srgbClr val="142636"/>
                </a:solidFill>
                <a:latin typeface="Aptos"/>
              </a:defRPr>
            </a:pPr>
            <a:r>
              <a:t>• Real-time digital maps and dynamic route planning</a:t>
            </a:r>
          </a:p>
          <a:p>
            <a:pPr>
              <a:spcAft>
                <a:spcPts val="1200"/>
              </a:spcAft>
              <a:defRPr sz="1700">
                <a:solidFill>
                  <a:srgbClr val="142636"/>
                </a:solidFill>
                <a:latin typeface="Aptos"/>
              </a:defRPr>
            </a:pPr>
            <a:r>
              <a:t>• Multilingual emergency communication</a:t>
            </a:r>
          </a:p>
          <a:p>
            <a:pPr>
              <a:spcAft>
                <a:spcPts val="1200"/>
              </a:spcAft>
              <a:defRPr sz="1700">
                <a:solidFill>
                  <a:srgbClr val="142636"/>
                </a:solidFill>
                <a:latin typeface="Aptos"/>
              </a:defRPr>
            </a:pPr>
            <a:r>
              <a:t>• Predictive ocean-risk modelling</a:t>
            </a:r>
          </a:p>
          <a:p>
            <a:pPr>
              <a:spcAft>
                <a:spcPts val="1200"/>
              </a:spcAft>
              <a:defRPr sz="1700">
                <a:solidFill>
                  <a:srgbClr val="142636"/>
                </a:solidFill>
                <a:latin typeface="Aptos"/>
              </a:defRPr>
            </a:pPr>
            <a:r>
              <a:t>• Integration with maritime and emergency agencies</a:t>
            </a:r>
          </a:p>
        </p:txBody>
      </p:sp>
      <p:sp>
        <p:nvSpPr>
          <p:cNvPr id="10" name="Oval 9"/>
          <p:cNvSpPr/>
          <p:nvPr/>
        </p:nvSpPr>
        <p:spPr>
          <a:xfrm>
            <a:off x="8595360" y="1645920"/>
            <a:ext cx="1234440" cy="1234440"/>
          </a:xfrm>
          <a:prstGeom prst="ellipse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F5F9FC"/>
                </a:solidFill>
                <a:latin typeface="Segoe UI Symbol"/>
              </a:defRPr>
            </a:pPr>
            <a:r>
              <a:t>DR</a:t>
            </a:r>
          </a:p>
        </p:txBody>
      </p:sp>
      <p:sp>
        <p:nvSpPr>
          <p:cNvPr id="11" name="Oval 10"/>
          <p:cNvSpPr/>
          <p:nvPr/>
        </p:nvSpPr>
        <p:spPr>
          <a:xfrm>
            <a:off x="9966960" y="2926080"/>
            <a:ext cx="1234440" cy="1234440"/>
          </a:xfrm>
          <a:prstGeom prst="ellipse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SAT</a:t>
            </a:r>
          </a:p>
        </p:txBody>
      </p:sp>
      <p:sp>
        <p:nvSpPr>
          <p:cNvPr id="12" name="Oval 11"/>
          <p:cNvSpPr/>
          <p:nvPr/>
        </p:nvSpPr>
        <p:spPr>
          <a:xfrm>
            <a:off x="8458200" y="4251960"/>
            <a:ext cx="1234440" cy="1234440"/>
          </a:xfrm>
          <a:prstGeom prst="ellipse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5F9FC"/>
                </a:solidFill>
                <a:latin typeface="Segoe UI Symbol"/>
              </a:defRPr>
            </a:pPr>
            <a:r>
              <a:t>MAP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13. Ethical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What responsible innovation should deliver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965960" cy="1051560"/>
          </a:xfrm>
          <a:prstGeom prst="round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9FC"/>
                </a:solidFill>
                <a:latin typeface="Aptos"/>
              </a:defRPr>
            </a:pPr>
            <a:r>
              <a:t>SAFE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7791" y="1920240"/>
            <a:ext cx="1965960" cy="1051560"/>
          </a:xfrm>
          <a:prstGeom prst="round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9FC"/>
                </a:solidFill>
                <a:latin typeface="Aptos"/>
              </a:defRPr>
            </a:pPr>
            <a:r>
              <a:t>FAIR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75504" y="1920240"/>
            <a:ext cx="1965960" cy="1051560"/>
          </a:xfrm>
          <a:prstGeom prst="roundRect">
            <a:avLst/>
          </a:prstGeom>
          <a:solidFill>
            <a:srgbClr val="148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9FC"/>
                </a:solidFill>
                <a:latin typeface="Aptos"/>
              </a:defRPr>
            </a:pPr>
            <a:r>
              <a:t>TRANSPARENT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43215" y="1920240"/>
            <a:ext cx="1965960" cy="1051560"/>
          </a:xfrm>
          <a:prstGeom prst="roundRect">
            <a:avLst/>
          </a:prstGeom>
          <a:solidFill>
            <a:srgbClr val="F29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9FC"/>
                </a:solidFill>
                <a:latin typeface="Aptos"/>
              </a:defRPr>
            </a:pPr>
            <a:r>
              <a:t>RESPONSIBLE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10928" y="1920240"/>
            <a:ext cx="1965960" cy="1051560"/>
          </a:xfrm>
          <a:prstGeom prst="roundRect">
            <a:avLst/>
          </a:prstGeom>
          <a:solidFill>
            <a:srgbClr val="105B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5F9FC"/>
                </a:solidFill>
                <a:latin typeface="Aptos"/>
              </a:defRPr>
            </a:pPr>
            <a:r>
              <a:t>HUMAN-CENTERED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77639"/>
            <a:ext cx="9966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071C34"/>
                </a:solidFill>
                <a:latin typeface="Aptos"/>
              </a:defRPr>
            </a:pPr>
            <a:r>
              <a:t>The goal is not merely to make rescue operations smarter, but to make intelligent rescue technology trustworthy, safe and socially responsible.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DE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BE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9B1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320040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71C34"/>
                </a:solidFill>
                <a:latin typeface="Aptos Display"/>
              </a:defRPr>
            </a:pPr>
            <a:r>
              <a:t>14.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B6E7C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9601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B6E7C"/>
                </a:solidFill>
                <a:latin typeface="Aptos"/>
              </a:defRPr>
            </a:pPr>
            <a:r>
              <a:t>Ethical Product Development • Intelligent Ocean Rescue Coordination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50" b="0">
                <a:solidFill>
                  <a:srgbClr val="5B6E7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325880"/>
            <a:ext cx="100584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AI can strengthen ocean rescue coordination through faster analysis and decision support.</a:t>
            </a:r>
          </a:p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Ethical principles are essential because the system operates in safety-critical situations.</a:t>
            </a:r>
          </a:p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Rights-based ethics helps protect life, privacy, fairness and dignity.</a:t>
            </a:r>
          </a:p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Human oversight, transparency and accountability should remain central.</a:t>
            </a:r>
          </a:p>
          <a:p>
            <a:pPr>
              <a:spcAft>
                <a:spcPts val="1200"/>
              </a:spcAft>
              <a:defRPr sz="1800">
                <a:solidFill>
                  <a:srgbClr val="142636"/>
                </a:solidFill>
                <a:latin typeface="Aptos"/>
              </a:defRPr>
            </a:pPr>
            <a:r>
              <a:t>• Responsible product development creates technology people can trust.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53212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05B8C"/>
                </a:solidFill>
                <a:latin typeface="Aptos"/>
              </a:defRPr>
            </a:pPr>
            <a:r>
              <a:t>SMART TECHNOLOGY + STRONG ETHICS = TRUSTWORTHY RESCUE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C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4630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5F9FC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74320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DEEEF4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8620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5F9FC"/>
                </a:solidFill>
                <a:latin typeface="Aptos"/>
              </a:defRPr>
            </a:pPr>
            <a:r>
              <a:t>Ethical Product Development in Intelligent Ocean Rescue Coordination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512064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EEEF4"/>
                </a:solidFill>
                <a:latin typeface="Aptos"/>
              </a:defRPr>
            </a:pPr>
            <a:r>
              <a:t>AI &amp; Data Science •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